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5A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Excess Analysis &amp; Policy Framework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causal evidence that bans without infrastructure fail — the Massachusetts model shows how to fix it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0" y="3383280"/>
            <a:ext cx="2743200" cy="27432"/>
          </a:xfrm>
          <a:prstGeom prst="rect">
            <a:avLst/>
          </a:prstGeom>
          <a:solidFill>
            <a:srgbClr val="8FB3A8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 DSA Datathon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Scale of America's Food Waste Crisis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65760" y="10058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70.7M tons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Food Surplus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18288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$384 billion in economic value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468880" y="10058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23.0M tons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468880" y="1554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to Landfill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68880" y="18288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38.5% of all food waste — largest single destination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0" y="10058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72000" y="1554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Residential Donations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18288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$141B in surplus food and 23.5M tons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75120" y="10058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221M MT CO2e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675120" y="1554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GHG Emissions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18288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 to 48 million cars on the road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828800" y="2834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114.9B meals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1828800" y="33832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 Wasted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44 million Americans face food insecurity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0" y="2834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 track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5029200" y="33832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 Goal Progress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capita waste increased 6% from 2016-2019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ReFED Food Waste Monitor, 2024 | Authors' analysis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Four-Pillar Analytical Approach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77240" y="1097280"/>
            <a:ext cx="731520" cy="731520"/>
          </a:xfrm>
          <a:prstGeom prst="ellipse">
            <a:avLst/>
          </a:prstGeom>
          <a:solidFill>
            <a:srgbClr val="3D5A5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43000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19659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 EDA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23317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charts exploring 70.7M tons across sectors, causes, and trends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971800" y="1097280"/>
            <a:ext cx="731520" cy="731520"/>
          </a:xfrm>
          <a:prstGeom prst="ellipse">
            <a:avLst/>
          </a:prstGeom>
          <a:solidFill>
            <a:srgbClr val="3D5A5B"/>
          </a:solidFill>
          <a:ln/>
        </p:spPr>
      </p:sp>
      <p:sp>
        <p:nvSpPr>
          <p:cNvPr id="8" name="Text 6"/>
          <p:cNvSpPr/>
          <p:nvPr/>
        </p:nvSpPr>
        <p:spPr>
          <a:xfrm>
            <a:off x="2971800" y="1143000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468880" y="19659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68880" y="23317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SHAP on 216K observations; state clustering for targeting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66360" y="1097280"/>
            <a:ext cx="731520" cy="731520"/>
          </a:xfrm>
          <a:prstGeom prst="ellipse">
            <a:avLst/>
          </a:prstGeom>
          <a:solidFill>
            <a:srgbClr val="3D5A5B"/>
          </a:solidFill>
          <a:ln/>
        </p:spPr>
      </p:sp>
      <p:sp>
        <p:nvSpPr>
          <p:cNvPr id="12" name="Text 10"/>
          <p:cNvSpPr/>
          <p:nvPr/>
        </p:nvSpPr>
        <p:spPr>
          <a:xfrm>
            <a:off x="5166360" y="1143000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63440" y="19659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 Inference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63440" y="23317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+ Event Study + Synthetic Control on 15-year state panel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60920" y="1097280"/>
            <a:ext cx="731520" cy="731520"/>
          </a:xfrm>
          <a:prstGeom prst="ellipse">
            <a:avLst/>
          </a:prstGeom>
          <a:solidFill>
            <a:srgbClr val="3D5A5B"/>
          </a:solidFill>
          <a:ln/>
        </p:spPr>
      </p:sp>
      <p:sp>
        <p:nvSpPr>
          <p:cNvPr id="16" name="Text 14"/>
          <p:cNvSpPr/>
          <p:nvPr/>
        </p:nvSpPr>
        <p:spPr>
          <a:xfrm>
            <a:off x="7360920" y="1143000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0" y="19659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Framework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recommendations calibrated from causal estimates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474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pillar builds on the last — EDA reveals patterns, ML quantifies drivers,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inference proves what works, and policy translates evidence into action.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Food Waste Happens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65760" y="9144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D5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Residential dominates: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surplus ($141B), 49% of landfill waste, yet ZERO donations. Foodservice sends 42% of all waste to landfill despite only 18% of surplus.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3108960" cy="914400"/>
          </a:xfrm>
          <a:prstGeom prst="roundRect">
            <a:avLst>
              <a:gd name="adj" fmla="val 10000"/>
            </a:avLst>
          </a:prstGeom>
          <a:solidFill>
            <a:srgbClr val="C5D5C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8892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48.7%
</a:t>
            </a:r>
            <a:pPr algn="ctr"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landfill waste is Residential</a:t>
            </a:r>
            <a:endParaRPr lang="en-US" sz="2800" dirty="0"/>
          </a:p>
        </p:txBody>
      </p:sp>
      <p:pic>
        <p:nvPicPr>
          <p:cNvPr id="6" name="Image 0" descr="C:\Users\venka\OneDrive\Desktop\Class\Events\Datathon Spring 26\agent-pipeline\files\outputs\analysis\charts\sector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822960"/>
            <a:ext cx="4846320" cy="3566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ReFED Food Waste Monitor, 2024 | Authors' analysis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Years of Growing Waste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analysis\charts\trend_over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859536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Surplus grew 14% (62M→70.7M tons) from 2010–2024. COVID caused a temporary drop in 2020, but waste rebounded sharply.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Food Goes to Waste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analysis\charts\cause_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530352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60720" y="1097280"/>
            <a:ext cx="3017520" cy="2286000"/>
          </a:xfrm>
          <a:prstGeom prst="roundRect">
            <a:avLst>
              <a:gd name="adj" fmla="val 4000"/>
            </a:avLst>
          </a:prstGeom>
          <a:solidFill>
            <a:srgbClr val="C5D5CD"/>
          </a:solidFill>
          <a:ln/>
        </p:spPr>
      </p:sp>
      <p:sp>
        <p:nvSpPr>
          <p:cNvPr id="5" name="Text 2"/>
          <p:cNvSpPr/>
          <p:nvPr/>
        </p:nvSpPr>
        <p:spPr>
          <a:xfrm>
            <a:off x="5943600" y="1188720"/>
            <a:ext cx="26517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#1 Cause
</a:t>
            </a:r>
            <a:pPr algn="ctr"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Byproducts &amp;
Production Line Waste
</a:t>
            </a:r>
            <a:pPr algn="ctr" indent="0" marL="0">
              <a:buNone/>
            </a:pPr>
            <a:r>
              <a:rPr lang="en-US" sz="2200" b="1" dirty="0">
                <a:solidFill>
                  <a:srgbClr val="C4836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11.9M tons
</a:t>
            </a:r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of Manufacturing waste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ReFED Food Waste Monitor, 2024 | Authors' analysis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$141 Billion Blind Spot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analysis\charts\donation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566928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126480" y="1371600"/>
            <a:ext cx="2743200" cy="2011680"/>
          </a:xfrm>
          <a:prstGeom prst="roundRect">
            <a:avLst>
              <a:gd name="adj" fmla="val 4545"/>
            </a:avLst>
          </a:prstGeom>
          <a:solidFill>
            <a:srgbClr val="F5EDEA"/>
          </a:solidFill>
          <a:ln w="25400">
            <a:solidFill>
              <a:srgbClr val="C4836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217920" y="1463040"/>
            <a:ext cx="25603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836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Residential Sector
</a:t>
            </a:r>
            <a:pPr algn="ctr"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23.5M tons surplus
$141B value
</a:t>
            </a:r>
            <a:pPr algn="ctr" indent="0" marL="0">
              <a:buNone/>
            </a:pPr>
            <a:r>
              <a:rPr lang="en-US" sz="1800" b="1" dirty="0">
                <a:solidFill>
                  <a:srgbClr val="C4836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donations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ReFED Food Waste Monitor, 2024 | Authors' analysis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D5A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 Insights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food waste to landfill?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0" y="3200400"/>
            <a:ext cx="2743200" cy="27432"/>
          </a:xfrm>
          <a:prstGeom prst="rect">
            <a:avLst/>
          </a:prstGeom>
          <a:solidFill>
            <a:srgbClr val="8FB3A8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 + SHAP: Key Drivers of Landfill Waste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ml\charts\shap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5029200" cy="3474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0" y="914400"/>
            <a:ext cx="3383280" cy="2560320"/>
          </a:xfrm>
          <a:prstGeom prst="roundRect">
            <a:avLst>
              <a:gd name="adj" fmla="val 3571"/>
            </a:avLst>
          </a:prstGeom>
          <a:solidFill>
            <a:srgbClr val="C5D5CD"/>
          </a:solidFill>
          <a:ln/>
        </p:spPr>
      </p:sp>
      <p:sp>
        <p:nvSpPr>
          <p:cNvPr id="5" name="Text 2"/>
          <p:cNvSpPr/>
          <p:nvPr/>
        </p:nvSpPr>
        <p:spPr>
          <a:xfrm>
            <a:off x="5623560" y="1005840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Insight
</a:t>
            </a:r>
            <a:pPr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infrastructure is </a:t>
            </a:r>
            <a:pPr indent="0" marL="0">
              <a:buNone/>
            </a:pPr>
            <a:r>
              <a:rPr lang="en-US" sz="1100" b="1" dirty="0">
                <a:solidFill>
                  <a:srgbClr val="C48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6x more important </a:t>
            </a:r>
            <a:pPr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ban status for predicting diversion success
</a:t>
            </a:r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SHAP: 0.177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 SHAP: 0.028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CV R² = 0.9448 (landfill) | 0.9714 (diversion) | N = 216,930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State Archetypes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ml\charts\cluster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530352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760720" y="91440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48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Landfill-Dependent (22 states):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53.9% avg landfill rate — highest priority targets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3D5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States (5):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20.7% rate — policy leaders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Economy (19):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43.4% rate — second priority tier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8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Diversion Leaders (4):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diversion via agricultural infrastructure, no mandates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ReFED Food Waste Monitor, 2024 | Authors' analysis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5A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 Evidence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organic waste bans actually work?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0" y="3200400"/>
            <a:ext cx="2743200" cy="27432"/>
          </a:xfrm>
          <a:prstGeom prst="rect">
            <a:avLst/>
          </a:prstGeom>
          <a:solidFill>
            <a:srgbClr val="8FB3A8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Causal Evidence: Bans Alone Increase Landfill Rates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causal\charts\event_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777240"/>
            <a:ext cx="4754880" cy="3474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120640" y="822960"/>
            <a:ext cx="3749040" cy="3474720"/>
          </a:xfrm>
          <a:prstGeom prst="roundRect">
            <a:avLst>
              <a:gd name="adj" fmla="val 2632"/>
            </a:avLst>
          </a:prstGeom>
          <a:solidFill>
            <a:srgbClr val="F8F6F3"/>
          </a:solidFill>
          <a:ln w="25400">
            <a:solidFill>
              <a:srgbClr val="3D5A5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257800" y="86868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Difference-in-Differences
</a:t>
            </a:r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C4836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β = +2.03 pp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landfill rate
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0.008  |  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0.989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Two-way FE DiD
State-clustered SEs
12 treated, 38 control states
15 years (2010–2024)
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3D5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Pre-trends validated ✓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Effects grow to 4.72 pp at t+6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California Case Study: SB 1383 Impact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causal\charts\synthetic_califor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77240"/>
            <a:ext cx="685800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0" y="347472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C5D5CD"/>
          </a:solidFill>
          <a:ln/>
        </p:spPr>
      </p:sp>
      <p:sp>
        <p:nvSpPr>
          <p:cNvPr id="5" name="Text 2"/>
          <p:cNvSpPr/>
          <p:nvPr/>
        </p:nvSpPr>
        <p:spPr>
          <a:xfrm>
            <a:off x="6492240" y="3520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Post-2022 gap: </a:t>
            </a:r>
            <a:pPr algn="ctr" indent="0" marL="0">
              <a:buNone/>
            </a:pPr>
            <a:r>
              <a:rPr lang="en-US" sz="1400" b="1" dirty="0">
                <a:solidFill>
                  <a:srgbClr val="C4836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+2.83 pp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landfill rate vs. counterfactual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D5A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Three-Tier Policy Framework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2743200" cy="3840480"/>
          </a:xfrm>
          <a:prstGeom prst="roundRect">
            <a:avLst>
              <a:gd name="adj" fmla="val 3333"/>
            </a:avLst>
          </a:prstGeom>
          <a:solidFill>
            <a:srgbClr val="2F4A4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960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3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FEDERAL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11480" y="1417320"/>
            <a:ext cx="2468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Label Standardization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425K tons/yr | $1.82B net benefit
Most cost-effective single intervention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Organic Waste Mandate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779K tons/yr shifted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with infrastructure investment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Massachusetts model as template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0" y="914400"/>
            <a:ext cx="2743200" cy="3840480"/>
          </a:xfrm>
          <a:prstGeom prst="roundRect">
            <a:avLst>
              <a:gd name="adj" fmla="val 3333"/>
            </a:avLst>
          </a:prstGeom>
          <a:solidFill>
            <a:srgbClr val="2F4A4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0" y="960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3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37560" y="1417320"/>
            <a:ext cx="2468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Infrastructure-Backed Bans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38 non-ban states
Priority: FL (86K), TX (83K), WI (54K)
22 'Landfill-Dependent' states first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Donation &amp; Composting Infra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$141B residential gap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Curbside organics collection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food recovery hubs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914400"/>
            <a:ext cx="2743200" cy="3840480"/>
          </a:xfrm>
          <a:prstGeom prst="roundRect">
            <a:avLst>
              <a:gd name="adj" fmla="val 3333"/>
            </a:avLst>
          </a:prstGeom>
          <a:solidFill>
            <a:srgbClr val="2F4A4C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960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3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63640" y="1417320"/>
            <a:ext cx="2468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Residential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+ composting + education
33% of surplus, $141B, 0 donations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Foodservice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tracking mandates
42% of landfill, 18% of surplus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Gleaning + secondary markets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13.4M tons not harvested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DiD-Calibrated Scenario Projections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ml\charts\scenario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5029200" cy="3474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0" y="91440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C5D5CD"/>
          </a:solidFill>
          <a:ln/>
        </p:spPr>
      </p:sp>
      <p:sp>
        <p:nvSpPr>
          <p:cNvPr id="5" name="Text 2"/>
          <p:cNvSpPr/>
          <p:nvPr/>
        </p:nvSpPr>
        <p:spPr>
          <a:xfrm>
            <a:off x="5623560" y="1005840"/>
            <a:ext cx="31089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Combined Impact
</a:t>
            </a:r>
            <a:pPr indent="0" marL="0">
              <a:buNone/>
            </a:pPr>
            <a:r>
              <a:rPr lang="en-US" sz="18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1,023,775 tons/yr
</a:t>
            </a:r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diverted from landfills
</a:t>
            </a:r>
            <a:pPr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4.47M MT CO2e saved
1.93B meals recovered
$6.37B economic value
</a:t>
            </a:r>
            <a:pPr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overlap discount applied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from causally estimated treatment effects, not hypotheticals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5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Evidence Base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566928"/>
          </a:xfrm>
          <a:prstGeom prst="roundRect">
            <a:avLst>
              <a:gd name="adj" fmla="val 8065"/>
            </a:avLst>
          </a:prstGeom>
          <a:solidFill>
            <a:srgbClr val="C5D5C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5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DiD Analysis:  </a:t>
            </a:r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Bans increase landfill rate by 2.03 pp (p=0.008) — mandates alone insufficient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527048"/>
            <a:ext cx="8412480" cy="566928"/>
          </a:xfrm>
          <a:prstGeom prst="roundRect">
            <a:avLst>
              <a:gd name="adj" fmla="val 8065"/>
            </a:avLst>
          </a:prstGeom>
          <a:solidFill>
            <a:srgbClr val="E8EE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2704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5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UCSD / Science (2024):  </a:t>
            </a:r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Massachusetts succeeded among 5 ban states — infrastructure is key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185416"/>
            <a:ext cx="8412480" cy="566928"/>
          </a:xfrm>
          <a:prstGeom prst="roundRect">
            <a:avLst>
              <a:gd name="adj" fmla="val 8065"/>
            </a:avLst>
          </a:prstGeom>
          <a:solidFill>
            <a:srgbClr val="C5D5C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85416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5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Massachusetts Model:  </a:t>
            </a:r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350K tons diverted, $194M value, 1,670+ jobs from infrastructure-backed ban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843784"/>
            <a:ext cx="8412480" cy="566928"/>
          </a:xfrm>
          <a:prstGeom prst="roundRect">
            <a:avLst>
              <a:gd name="adj" fmla="val 8065"/>
            </a:avLst>
          </a:prstGeom>
          <a:solidFill>
            <a:srgbClr val="E8EEE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843784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5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ReFED Cost-Benefit:  </a:t>
            </a:r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labels: 425K tons, $1.82B net benefit — most cost-effective intervention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502152"/>
            <a:ext cx="8412480" cy="566928"/>
          </a:xfrm>
          <a:prstGeom prst="roundRect">
            <a:avLst>
              <a:gd name="adj" fmla="val 8065"/>
            </a:avLst>
          </a:prstGeom>
          <a:solidFill>
            <a:srgbClr val="C5D5C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02152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5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Vermont Act 148:  </a:t>
            </a:r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51–57% recovery rate, 40% donation increase, 43% household composting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4160520"/>
            <a:ext cx="8412480" cy="566928"/>
          </a:xfrm>
          <a:prstGeom prst="roundRect">
            <a:avLst>
              <a:gd name="adj" fmla="val 8065"/>
            </a:avLst>
          </a:prstGeom>
          <a:solidFill>
            <a:srgbClr val="E8EEE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16052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5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Donation Law:  </a:t>
            </a:r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20%+ donation increase, 10M additional meals/yr from supermarket mandate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D5A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year of inaction sends 23M more tons to landfills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0" y="1828800"/>
            <a:ext cx="3657600" cy="27432"/>
          </a:xfrm>
          <a:prstGeom prst="rect">
            <a:avLst/>
          </a:prstGeom>
          <a:solidFill>
            <a:srgbClr val="8FB3A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0116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is causal. The framework is proven. Act now.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 tons diverted  |  4.5M MT CO2e saved  |  $6.4B value  |  1.9B meals recovered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4297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 DSA Datathon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Excess Analysis &amp; Policy Framework</dc:title>
  <dc:subject>PptxGenJS Presentation</dc:subject>
  <dc:creator>GW DSA Datathon Team</dc:creator>
  <cp:lastModifiedBy>GW DSA Datathon Team</cp:lastModifiedBy>
  <cp:revision>1</cp:revision>
  <dcterms:created xsi:type="dcterms:W3CDTF">2026-03-20T03:26:00Z</dcterms:created>
  <dcterms:modified xsi:type="dcterms:W3CDTF">2026-03-20T03:26:00Z</dcterms:modified>
</cp:coreProperties>
</file>